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4" r:id="rId16"/>
    <p:sldId id="27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55C810-61AB-44F5-B201-97D401D9BA68}">
          <p14:sldIdLst>
            <p14:sldId id="256"/>
            <p14:sldId id="257"/>
            <p14:sldId id="259"/>
            <p14:sldId id="260"/>
            <p14:sldId id="261"/>
            <p14:sldId id="263"/>
          </p14:sldIdLst>
        </p14:section>
        <p14:section name="Untitled Section" id="{C73EA487-0068-4FF8-8E8E-8F1AE613E472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4"/>
            <p14:sldId id="273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04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209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2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259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57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4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193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407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1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2494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0805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52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292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53435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624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40996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50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544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07477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2182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483536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7105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349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712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499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35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49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31A608C-DAEC-40DC-A727-9BD25FC1C2E5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7B884A7F-F095-4F7D-B915-95E687B32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398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0541-D889-C39B-5242-68539F9FD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188" y="666813"/>
            <a:ext cx="4800600" cy="2762187"/>
          </a:xfrm>
        </p:spPr>
        <p:txBody>
          <a:bodyPr/>
          <a:lstStyle/>
          <a:p>
            <a:r>
              <a:rPr lang="en-IN" dirty="0"/>
              <a:t>NLP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AD1B1-CC40-84D7-05F3-E0846D731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1122947"/>
            <a:ext cx="3830874" cy="5088490"/>
          </a:xfrm>
        </p:spPr>
        <p:txBody>
          <a:bodyPr>
            <a:noAutofit/>
          </a:bodyPr>
          <a:lstStyle/>
          <a:p>
            <a:pPr algn="ctr"/>
            <a:r>
              <a:rPr lang="en-IN" sz="2800" dirty="0"/>
              <a:t>NLP  and Machine Learning Project Disaster Tweet          Classification</a:t>
            </a:r>
          </a:p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1369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8055DA-A879-5203-3B13-7BB598975F3A}"/>
              </a:ext>
            </a:extLst>
          </p:cNvPr>
          <p:cNvSpPr/>
          <p:nvPr/>
        </p:nvSpPr>
        <p:spPr>
          <a:xfrm>
            <a:off x="363793" y="329381"/>
            <a:ext cx="3313472" cy="5373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A0B15C-2236-55D4-3B2A-7CEABA952D36}"/>
              </a:ext>
            </a:extLst>
          </p:cNvPr>
          <p:cNvSpPr/>
          <p:nvPr/>
        </p:nvSpPr>
        <p:spPr>
          <a:xfrm>
            <a:off x="1032387" y="619431"/>
            <a:ext cx="2172929" cy="44659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u="sng" dirty="0">
                <a:highlight>
                  <a:srgbClr val="008080"/>
                </a:highlight>
              </a:rPr>
              <a:t>Introduction</a:t>
            </a:r>
          </a:p>
          <a:p>
            <a:pPr algn="ctr"/>
            <a:endParaRPr lang="en-IN" sz="2400" u="sng" dirty="0">
              <a:highlight>
                <a:srgbClr val="00808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Social media and disaster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Real disaster vs non disaster tweets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Project ka purpose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FD091ED-458E-93F1-DE30-A5004758FAED}"/>
              </a:ext>
            </a:extLst>
          </p:cNvPr>
          <p:cNvSpPr/>
          <p:nvPr/>
        </p:nvSpPr>
        <p:spPr>
          <a:xfrm>
            <a:off x="4345859" y="432619"/>
            <a:ext cx="2969342" cy="5373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highlight>
                  <a:srgbClr val="008080"/>
                </a:highlight>
              </a:rPr>
              <a:t>Objects</a:t>
            </a:r>
          </a:p>
          <a:p>
            <a:pPr algn="ctr"/>
            <a:endParaRPr lang="en-US" sz="2800" u="sng" dirty="0">
              <a:highlight>
                <a:srgbClr val="00808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Text classification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Feature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Model comparison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Performance evaluation</a:t>
            </a:r>
            <a:endParaRPr lang="en-IN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9E696C-AE9E-7B89-1917-353FAB073D48}"/>
              </a:ext>
            </a:extLst>
          </p:cNvPr>
          <p:cNvSpPr/>
          <p:nvPr/>
        </p:nvSpPr>
        <p:spPr>
          <a:xfrm>
            <a:off x="7855458" y="521498"/>
            <a:ext cx="3609474" cy="5567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44D71D-E9BA-FBA7-C355-D2FDA63F00C7}"/>
              </a:ext>
            </a:extLst>
          </p:cNvPr>
          <p:cNvSpPr/>
          <p:nvPr/>
        </p:nvSpPr>
        <p:spPr>
          <a:xfrm>
            <a:off x="8588996" y="785416"/>
            <a:ext cx="2399071" cy="4493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u="sng" dirty="0">
                <a:highlight>
                  <a:srgbClr val="008080"/>
                </a:highlight>
              </a:rPr>
              <a:t>Data Information</a:t>
            </a:r>
          </a:p>
          <a:p>
            <a:endParaRPr lang="en-IN" sz="2400" u="sng" dirty="0">
              <a:highlight>
                <a:srgbClr val="008080"/>
              </a:highlight>
            </a:endParaRPr>
          </a:p>
          <a:p>
            <a:pPr lvl="0"/>
            <a:r>
              <a:rPr lang="en-IN" sz="2000" dirty="0"/>
              <a:t>Dataset: 7,613 rows, 5 original columns</a:t>
            </a:r>
          </a:p>
          <a:p>
            <a:pPr lvl="0"/>
            <a:r>
              <a:rPr lang="en-IN" sz="2000" dirty="0"/>
              <a:t>Fields: id, keyword, location, text, target</a:t>
            </a:r>
          </a:p>
          <a:p>
            <a:pPr lvl="0"/>
            <a:r>
              <a:rPr lang="en-IN" sz="2000" dirty="0"/>
              <a:t>Target 0 = non-disaster; 1 = disaster</a:t>
            </a:r>
          </a:p>
        </p:txBody>
      </p:sp>
    </p:spTree>
    <p:extLst>
      <p:ext uri="{BB962C8B-B14F-4D97-AF65-F5344CB8AC3E}">
        <p14:creationId xmlns:p14="http://schemas.microsoft.com/office/powerpoint/2010/main" val="408041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F91BEE-E650-4916-7EAC-F5EE95BB1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219" y="299994"/>
            <a:ext cx="4357439" cy="2236730"/>
          </a:xfrm>
        </p:spPr>
        <p:txBody>
          <a:bodyPr/>
          <a:lstStyle/>
          <a:p>
            <a:r>
              <a:rPr lang="en-US" dirty="0"/>
              <a:t>      Data visualization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Non-Disaster  -  4342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Disaster  -   3271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D311B0-2C97-2151-40D1-4F2C2AB82389}"/>
              </a:ext>
            </a:extLst>
          </p:cNvPr>
          <p:cNvPicPr>
            <a:picLocks noGrp="1"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>
            <p:ph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3C188-14A1-D345-885A-49B1C9CFA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32" y="737937"/>
            <a:ext cx="6769768" cy="498909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D547C5-39C9-FBDA-32CC-4BB6F4189B23}"/>
              </a:ext>
            </a:extLst>
          </p:cNvPr>
          <p:cNvSpPr/>
          <p:nvPr/>
        </p:nvSpPr>
        <p:spPr>
          <a:xfrm>
            <a:off x="219219" y="2536724"/>
            <a:ext cx="4296697" cy="373625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highlight>
                  <a:srgbClr val="000000"/>
                </a:highlight>
              </a:rPr>
              <a:t>The dataset contains two classes: disaster-related and non-disaster tweets. The target distribution helps us understand whether the dataset is balanced or imbalanced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968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1DB2FD-F6E8-1274-9C69-65ED8D5EB6E2}"/>
              </a:ext>
            </a:extLst>
          </p:cNvPr>
          <p:cNvSpPr/>
          <p:nvPr/>
        </p:nvSpPr>
        <p:spPr>
          <a:xfrm>
            <a:off x="2123768" y="196128"/>
            <a:ext cx="7944464" cy="6685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Keyword and Location Analysis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738DA3-A267-EB35-04BA-9222D54E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0" y="1213413"/>
            <a:ext cx="5399425" cy="52365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B7C5954-56F2-1322-28CD-F88FA9372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510" y="1213414"/>
            <a:ext cx="5851708" cy="523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1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597BBE-7446-49F4-CA10-3CDCD57369D5}"/>
              </a:ext>
            </a:extLst>
          </p:cNvPr>
          <p:cNvSpPr/>
          <p:nvPr/>
        </p:nvSpPr>
        <p:spPr>
          <a:xfrm>
            <a:off x="3129763" y="304799"/>
            <a:ext cx="5171768" cy="796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Tweet   </a:t>
            </a:r>
            <a:r>
              <a:rPr lang="en-US" dirty="0"/>
              <a:t>Length  and  Word Count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028F5-6FFB-FD95-E23E-F3D86BC2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33" y="1853785"/>
            <a:ext cx="2482162" cy="408179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37C02F-204A-E848-53F0-040F4581D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982" y="1962844"/>
            <a:ext cx="5044877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5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FD9D5A8-EF94-21A7-9F6C-869D9B085152}"/>
              </a:ext>
            </a:extLst>
          </p:cNvPr>
          <p:cNvSpPr/>
          <p:nvPr/>
        </p:nvSpPr>
        <p:spPr>
          <a:xfrm>
            <a:off x="3775587" y="353961"/>
            <a:ext cx="4650658" cy="786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u="sng" dirty="0" err="1">
                <a:highlight>
                  <a:srgbClr val="008080"/>
                </a:highlight>
              </a:rPr>
              <a:t>Hastags</a:t>
            </a:r>
            <a:r>
              <a:rPr lang="en-IN" sz="2800" u="sng" dirty="0">
                <a:highlight>
                  <a:srgbClr val="008080"/>
                </a:highlight>
              </a:rPr>
              <a:t>  and  Mentions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8CA1C-E87C-0AB7-74EE-6CB1FB73E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1620254"/>
            <a:ext cx="3634831" cy="373781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B9D006-AA88-9E07-B322-A5506FAA6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40" y="1620254"/>
            <a:ext cx="5151566" cy="373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2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174A-280C-223A-8DC2-12F615012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1726" y="192505"/>
            <a:ext cx="6507817" cy="1379621"/>
          </a:xfrm>
        </p:spPr>
        <p:txBody>
          <a:bodyPr/>
          <a:lstStyle/>
          <a:p>
            <a:r>
              <a:rPr lang="en-IN" dirty="0"/>
              <a:t>    Top Disaster Words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019AC-8458-A2CF-777E-5C8318E70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3512" y="2680692"/>
            <a:ext cx="3830874" cy="14966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E995-019A-EFC2-3DAB-141925EC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167" y="2015613"/>
            <a:ext cx="6391871" cy="44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43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AD01-14DE-21D4-B658-5E11AD8C3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3633" y="188332"/>
            <a:ext cx="6462871" cy="1078994"/>
          </a:xfrm>
        </p:spPr>
        <p:txBody>
          <a:bodyPr>
            <a:normAutofit fontScale="90000"/>
          </a:bodyPr>
          <a:lstStyle/>
          <a:p>
            <a:r>
              <a:rPr lang="en-IN" dirty="0"/>
              <a:t>Top Non Disaster Words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DF830-D171-762B-613C-F9DD2D05C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3263" y="2436842"/>
            <a:ext cx="3830874" cy="14966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19F7E-B037-DC2A-1E7F-2271F316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916" y="1475873"/>
            <a:ext cx="7161985" cy="472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6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339C-DAB2-36BA-9869-3A1CABD7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611" y="362590"/>
            <a:ext cx="5378267" cy="985658"/>
          </a:xfrm>
        </p:spPr>
        <p:txBody>
          <a:bodyPr/>
          <a:lstStyle/>
          <a:p>
            <a:r>
              <a:rPr lang="en-IN" dirty="0"/>
              <a:t>TF – IDF  and Feature Stacking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6E5E-7614-A844-C4CF-A0F490CCD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57" y="1990476"/>
            <a:ext cx="5378268" cy="3662734"/>
          </a:xfrm>
        </p:spPr>
        <p:txBody>
          <a:bodyPr>
            <a:normAutofit/>
          </a:bodyPr>
          <a:lstStyle/>
          <a:p>
            <a:pPr lvl="0"/>
            <a:r>
              <a:rPr lang="en-IN" sz="2800" dirty="0">
                <a:highlight>
                  <a:srgbClr val="800080"/>
                </a:highlight>
              </a:rPr>
              <a:t>Convert text into numerical features</a:t>
            </a:r>
          </a:p>
          <a:p>
            <a:pPr lvl="0"/>
            <a:r>
              <a:rPr lang="en-IN" sz="2800" dirty="0">
                <a:highlight>
                  <a:srgbClr val="800080"/>
                </a:highlight>
              </a:rPr>
              <a:t>Combine TF-IDF with three additional features</a:t>
            </a:r>
          </a:p>
          <a:p>
            <a:pPr lvl="0"/>
            <a:r>
              <a:rPr lang="en-IN" sz="2800" dirty="0">
                <a:highlight>
                  <a:srgbClr val="800080"/>
                </a:highlight>
              </a:rPr>
              <a:t>Explain </a:t>
            </a:r>
            <a:r>
              <a:rPr lang="en-IN" sz="2800" dirty="0" err="1">
                <a:highlight>
                  <a:srgbClr val="800080"/>
                </a:highlight>
              </a:rPr>
              <a:t>X_train_combined</a:t>
            </a:r>
            <a:r>
              <a:rPr lang="en-IN" sz="2800" dirty="0">
                <a:highlight>
                  <a:srgbClr val="800080"/>
                </a:highlight>
              </a:rPr>
              <a:t> and </a:t>
            </a:r>
            <a:r>
              <a:rPr lang="en-IN" sz="2800" dirty="0" err="1">
                <a:highlight>
                  <a:srgbClr val="800080"/>
                </a:highlight>
              </a:rPr>
              <a:t>X_test_combined</a:t>
            </a:r>
            <a:endParaRPr lang="en-IN" sz="2800" dirty="0">
              <a:highlight>
                <a:srgbClr val="800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C4DB6-F0ED-6010-D8C0-8586FE247565}"/>
              </a:ext>
            </a:extLst>
          </p:cNvPr>
          <p:cNvSpPr txBox="1"/>
          <p:nvPr/>
        </p:nvSpPr>
        <p:spPr>
          <a:xfrm>
            <a:off x="7122694" y="4581708"/>
            <a:ext cx="42832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buNone/>
            </a:pPr>
            <a:r>
              <a:rPr lang="en-IN" sz="2800" b="0" i="0" dirty="0">
                <a:effectLst/>
                <a:highlight>
                  <a:srgbClr val="800080"/>
                </a:highlight>
                <a:latin typeface="+mn-lt"/>
              </a:rPr>
              <a:t>Training data: 6090</a:t>
            </a:r>
          </a:p>
          <a:p>
            <a:pPr marL="0" marR="0" indent="0" algn="l" latinLnBrk="1">
              <a:buNone/>
            </a:pPr>
            <a:r>
              <a:rPr lang="en-IN" sz="2800" b="0" i="0" dirty="0">
                <a:effectLst/>
                <a:highlight>
                  <a:srgbClr val="800080"/>
                </a:highlight>
                <a:latin typeface="+mn-lt"/>
              </a:rPr>
              <a:t>Testing data: 1523</a:t>
            </a:r>
            <a:endParaRPr lang="en-IN" sz="2800" b="0" i="0" dirty="0">
              <a:effectLst/>
              <a:highlight>
                <a:srgbClr val="800080"/>
              </a:highlight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07070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9463-EA78-51C5-561F-F184C644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855" y="304800"/>
            <a:ext cx="3491239" cy="712942"/>
          </a:xfrm>
        </p:spPr>
        <p:txBody>
          <a:bodyPr/>
          <a:lstStyle/>
          <a:p>
            <a:r>
              <a:rPr lang="en-IN" dirty="0">
                <a:highlight>
                  <a:srgbClr val="800080"/>
                </a:highlight>
              </a:rPr>
              <a:t> Model 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291442-23E3-C3D6-271D-CAE679BCE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283" y="1365000"/>
            <a:ext cx="7726354" cy="45384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44B6B5-C9E0-FDC7-7948-6D49DB278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445" y="2289233"/>
            <a:ext cx="3864078" cy="287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9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2B8D-1097-7B60-5F6A-70F9542F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611" y="230701"/>
            <a:ext cx="5378267" cy="985658"/>
          </a:xfrm>
        </p:spPr>
        <p:txBody>
          <a:bodyPr/>
          <a:lstStyle/>
          <a:p>
            <a:r>
              <a:rPr lang="en-IN" dirty="0">
                <a:highlight>
                  <a:srgbClr val="800080"/>
                </a:highlight>
              </a:rPr>
              <a:t>Classification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CC798-4137-04A7-A57F-E7D5CA332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7119" y="1717756"/>
            <a:ext cx="5378268" cy="4121569"/>
          </a:xfrm>
        </p:spPr>
        <p:txBody>
          <a:bodyPr/>
          <a:lstStyle/>
          <a:p>
            <a:pPr latinLnBrk="1"/>
            <a:r>
              <a:rPr lang="en-IN" dirty="0"/>
              <a:t> precision    recall  f1-score   support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Non-Disaster       0.81      0.88      0.84       869</a:t>
            </a:r>
          </a:p>
          <a:p>
            <a:pPr latinLnBrk="1"/>
            <a:r>
              <a:rPr lang="en-IN" dirty="0"/>
              <a:t>    Disaster       0.82      0.73      0.77       654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    accuracy                           0.81      1523</a:t>
            </a:r>
          </a:p>
          <a:p>
            <a:pPr latinLnBrk="1"/>
            <a:r>
              <a:rPr lang="en-IN" dirty="0"/>
              <a:t>   macro </a:t>
            </a:r>
            <a:r>
              <a:rPr lang="en-IN" dirty="0" err="1"/>
              <a:t>avg</a:t>
            </a:r>
            <a:r>
              <a:rPr lang="en-IN" dirty="0"/>
              <a:t>       0.82      0.80      0.81      1523</a:t>
            </a:r>
          </a:p>
          <a:p>
            <a:pPr latinLnBrk="1"/>
            <a:r>
              <a:rPr lang="en-IN" dirty="0"/>
              <a:t>weighted </a:t>
            </a:r>
            <a:r>
              <a:rPr lang="en-IN" dirty="0" err="1"/>
              <a:t>avg</a:t>
            </a:r>
            <a:r>
              <a:rPr lang="en-IN" dirty="0"/>
              <a:t>       0.82      0.81      0.81      1523</a:t>
            </a:r>
          </a:p>
        </p:txBody>
      </p:sp>
    </p:spTree>
    <p:extLst>
      <p:ext uri="{BB962C8B-B14F-4D97-AF65-F5344CB8AC3E}">
        <p14:creationId xmlns:p14="http://schemas.microsoft.com/office/powerpoint/2010/main" val="41669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2802-6763-7436-8932-EF03C01E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866" y="0"/>
            <a:ext cx="5378267" cy="985658"/>
          </a:xfrm>
        </p:spPr>
        <p:txBody>
          <a:bodyPr/>
          <a:lstStyle/>
          <a:p>
            <a:r>
              <a:rPr lang="en-IN" dirty="0">
                <a:highlight>
                  <a:srgbClr val="800080"/>
                </a:highlight>
              </a:rPr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9237B-2379-72F2-2296-8DCA6DEB2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6242" y="1611472"/>
            <a:ext cx="6632137" cy="462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10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36D26-C289-8698-2642-406F8AEE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438" y="-197003"/>
            <a:ext cx="5378267" cy="985658"/>
          </a:xfrm>
        </p:spPr>
        <p:txBody>
          <a:bodyPr/>
          <a:lstStyle/>
          <a:p>
            <a:r>
              <a:rPr lang="en-IN" dirty="0">
                <a:highlight>
                  <a:srgbClr val="800080"/>
                </a:highlight>
              </a:rPr>
              <a:t>ROC Curve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48116CC-5614-54D8-7AD7-8AB0317C8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41" y="1189356"/>
            <a:ext cx="5665359" cy="3555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EC6702-0144-9DF8-492E-ACDE489CAE68}"/>
              </a:ext>
            </a:extLst>
          </p:cNvPr>
          <p:cNvSpPr txBox="1"/>
          <p:nvPr/>
        </p:nvSpPr>
        <p:spPr>
          <a:xfrm>
            <a:off x="430641" y="5145424"/>
            <a:ext cx="6232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buNone/>
            </a:pPr>
            <a:r>
              <a:rPr lang="en-IN" sz="2800" b="0" i="0" dirty="0">
                <a:effectLst/>
                <a:highlight>
                  <a:srgbClr val="800080"/>
                </a:highlight>
                <a:latin typeface="+mn-lt"/>
              </a:rPr>
              <a:t>ROC-AUC: 0.871654648916291</a:t>
            </a:r>
            <a:endParaRPr lang="en-IN" sz="2800" b="0" i="0" dirty="0">
              <a:effectLst/>
              <a:highlight>
                <a:srgbClr val="800080"/>
              </a:highlight>
              <a:latin typeface="menl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B59A5-9F53-D5DD-E3FE-4E964C600470}"/>
              </a:ext>
            </a:extLst>
          </p:cNvPr>
          <p:cNvSpPr txBox="1"/>
          <p:nvPr/>
        </p:nvSpPr>
        <p:spPr>
          <a:xfrm>
            <a:off x="8091972" y="295826"/>
            <a:ext cx="3382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highlight>
                  <a:srgbClr val="000080"/>
                </a:highlight>
              </a:rPr>
              <a:t>Precision-Recall Curve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22346-A691-EB9E-26A8-43334D7E0C47}"/>
              </a:ext>
            </a:extLst>
          </p:cNvPr>
          <p:cNvSpPr txBox="1"/>
          <p:nvPr/>
        </p:nvSpPr>
        <p:spPr>
          <a:xfrm>
            <a:off x="6763563" y="5222368"/>
            <a:ext cx="6104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buNone/>
            </a:pPr>
            <a:r>
              <a:rPr lang="en-IN" sz="2000" b="0" i="0" dirty="0">
                <a:effectLst/>
                <a:highlight>
                  <a:srgbClr val="000080"/>
                </a:highlight>
                <a:latin typeface="+mn-lt"/>
              </a:rPr>
              <a:t>Average Precision: 0.8710087812977413</a:t>
            </a:r>
            <a:endParaRPr lang="en-IN" sz="2000" b="0" i="0" dirty="0">
              <a:effectLst/>
              <a:highlight>
                <a:srgbClr val="000080"/>
              </a:highlight>
              <a:latin typeface="menl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10E7F6-EA9F-E617-BB7C-3C675FD75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547" y="1189356"/>
            <a:ext cx="5456811" cy="355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78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EAA91-E53D-2BF2-C69E-0CDB01F5E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611" y="0"/>
            <a:ext cx="5378267" cy="985658"/>
          </a:xfrm>
        </p:spPr>
        <p:txBody>
          <a:bodyPr/>
          <a:lstStyle/>
          <a:p>
            <a:pPr algn="ctr"/>
            <a:r>
              <a:rPr lang="en-IN" dirty="0">
                <a:highlight>
                  <a:srgbClr val="008000"/>
                </a:highlight>
              </a:rPr>
              <a:t>      Cross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9F3A81-64B7-587D-2FBA-6564A5AC5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24" y="2076577"/>
            <a:ext cx="5412276" cy="3714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82DFAA-25C8-A10E-87E2-3BDBACE37EB0}"/>
              </a:ext>
            </a:extLst>
          </p:cNvPr>
          <p:cNvSpPr txBox="1"/>
          <p:nvPr/>
        </p:nvSpPr>
        <p:spPr>
          <a:xfrm>
            <a:off x="6228348" y="2323190"/>
            <a:ext cx="610402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Cross-validation scores:</a:t>
            </a:r>
          </a:p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[0.63738318 </a:t>
            </a:r>
          </a:p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0.58862876</a:t>
            </a:r>
          </a:p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 0.65873016</a:t>
            </a:r>
          </a:p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 0.61913043</a:t>
            </a:r>
          </a:p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 0.74640424]</a:t>
            </a:r>
          </a:p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Mean F1 Score: 0.650055354567477</a:t>
            </a:r>
          </a:p>
          <a:p>
            <a:pPr marL="0" marR="0" indent="0" algn="l" latinLnBrk="1">
              <a:spcBef>
                <a:spcPts val="375"/>
              </a:spcBef>
              <a:buNone/>
            </a:pPr>
            <a:r>
              <a:rPr lang="en-IN" sz="1800" b="0" i="0" dirty="0">
                <a:effectLst/>
                <a:latin typeface="+mn-lt"/>
              </a:rPr>
              <a:t>Standard Deviation: 0.05338262028241877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138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65E6-5780-B82D-2603-B0A07ED1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7984" y="635305"/>
            <a:ext cx="5378267" cy="985658"/>
          </a:xfrm>
        </p:spPr>
        <p:txBody>
          <a:bodyPr/>
          <a:lstStyle/>
          <a:p>
            <a:pPr algn="ctr"/>
            <a:r>
              <a:rPr lang="en-IN" dirty="0">
                <a:highlight>
                  <a:srgbClr val="800000"/>
                </a:highlight>
              </a:rPr>
              <a:t>Model Testing and Prediction          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0A57A3-92BC-D612-260F-63F9E7E3A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7984" y="2594641"/>
            <a:ext cx="5378450" cy="32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72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8758-4CF9-A3E1-7306-4961A39E7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808" y="444233"/>
            <a:ext cx="5378267" cy="985658"/>
          </a:xfrm>
        </p:spPr>
        <p:txBody>
          <a:bodyPr/>
          <a:lstStyle/>
          <a:p>
            <a:pPr algn="ctr"/>
            <a:r>
              <a:rPr lang="en-IN" dirty="0">
                <a:highlight>
                  <a:srgbClr val="000080"/>
                </a:highlight>
              </a:rPr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245FE-1062-670A-6A09-D9BAB23ED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1990473"/>
            <a:ext cx="9781925" cy="3662734"/>
          </a:xfrm>
        </p:spPr>
        <p:txBody>
          <a:bodyPr/>
          <a:lstStyle/>
          <a:p>
            <a:r>
              <a:rPr lang="en-IN" sz="2000" b="1" dirty="0">
                <a:highlight>
                  <a:srgbClr val="000080"/>
                </a:highlight>
              </a:rPr>
              <a:t>Test Case: Disaster Tweet Classification</a:t>
            </a:r>
            <a:endParaRPr lang="en-IN" sz="2000" dirty="0">
              <a:highlight>
                <a:srgbClr val="000080"/>
              </a:highlight>
            </a:endParaRPr>
          </a:p>
          <a:p>
            <a:pPr lvl="0"/>
            <a:r>
              <a:rPr lang="en-IN" sz="2000" b="1" dirty="0">
                <a:highlight>
                  <a:srgbClr val="000080"/>
                </a:highlight>
              </a:rPr>
              <a:t>Input Tweet:</a:t>
            </a:r>
            <a:r>
              <a:rPr lang="en-IN" sz="2000" dirty="0">
                <a:highlight>
                  <a:srgbClr val="000080"/>
                </a:highlight>
              </a:rPr>
              <a:t> “A massive earthquake has destroyed several buildings.”</a:t>
            </a:r>
          </a:p>
          <a:p>
            <a:pPr lvl="0"/>
            <a:r>
              <a:rPr lang="en-IN" sz="2000" b="1" dirty="0">
                <a:highlight>
                  <a:srgbClr val="000080"/>
                </a:highlight>
              </a:rPr>
              <a:t>Predicted Output:</a:t>
            </a:r>
            <a:r>
              <a:rPr lang="en-IN" sz="2000" dirty="0">
                <a:highlight>
                  <a:srgbClr val="000080"/>
                </a:highlight>
              </a:rPr>
              <a:t> Disaster Tweet Detected!</a:t>
            </a:r>
          </a:p>
          <a:p>
            <a:pPr lvl="0"/>
            <a:r>
              <a:rPr lang="en-IN" sz="2000" b="1" dirty="0">
                <a:highlight>
                  <a:srgbClr val="000080"/>
                </a:highlight>
              </a:rPr>
              <a:t>Interpretation:</a:t>
            </a:r>
            <a:r>
              <a:rPr lang="en-IN" sz="2000" dirty="0">
                <a:highlight>
                  <a:srgbClr val="000080"/>
                </a:highlight>
              </a:rPr>
              <a:t> The trained machine learning model classified the tweet as a possible disaster-related report.</a:t>
            </a:r>
          </a:p>
          <a:p>
            <a:pPr lvl="0"/>
            <a:r>
              <a:rPr lang="en-IN" sz="2000" b="1" dirty="0">
                <a:highlight>
                  <a:srgbClr val="000080"/>
                </a:highlight>
              </a:rPr>
              <a:t>Limitation:</a:t>
            </a:r>
            <a:r>
              <a:rPr lang="en-IN" sz="2000" dirty="0">
                <a:highlight>
                  <a:srgbClr val="000080"/>
                </a:highlight>
              </a:rPr>
              <a:t> The prediction does not verify whether the reported emergency is real.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479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5E5437-8217-02F1-51DB-AEF59B9D63AA}"/>
              </a:ext>
            </a:extLst>
          </p:cNvPr>
          <p:cNvSpPr/>
          <p:nvPr/>
        </p:nvSpPr>
        <p:spPr>
          <a:xfrm>
            <a:off x="1415846" y="462115"/>
            <a:ext cx="8642555" cy="55158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000080"/>
                </a:highlight>
              </a:rPr>
              <a:t>PRESENTED BY </a:t>
            </a: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I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000080"/>
                </a:highlight>
              </a:rPr>
              <a:t>RUBY SETHI</a:t>
            </a: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              </a:t>
            </a:r>
            <a:r>
              <a:rPr lang="en-I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000080"/>
                </a:highlight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597487472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177</TotalTime>
  <Words>304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menlo</vt:lpstr>
      <vt:lpstr>Neue Haas Grotesk Text Pro</vt:lpstr>
      <vt:lpstr>Film Burn</vt:lpstr>
      <vt:lpstr>NLP PROJECT</vt:lpstr>
      <vt:lpstr>PowerPoint Presentation</vt:lpstr>
      <vt:lpstr>      Data visualization   Non-Disaster  -  4342    Disaster  -   3271</vt:lpstr>
      <vt:lpstr>PowerPoint Presentation</vt:lpstr>
      <vt:lpstr>PowerPoint Presentation</vt:lpstr>
      <vt:lpstr>PowerPoint Presentation</vt:lpstr>
      <vt:lpstr>    Top Disaster Words</vt:lpstr>
      <vt:lpstr>Top Non Disaster Words</vt:lpstr>
      <vt:lpstr>TF – IDF  and Feature Stacking</vt:lpstr>
      <vt:lpstr> Model Comparison</vt:lpstr>
      <vt:lpstr>Classification Report</vt:lpstr>
      <vt:lpstr>Confusion Matrix</vt:lpstr>
      <vt:lpstr>ROC Curve</vt:lpstr>
      <vt:lpstr>      Cross Validation</vt:lpstr>
      <vt:lpstr>Model Testing and Prediction           Result</vt:lpstr>
      <vt:lpstr>Deployment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Ruby Sethi</dc:creator>
  <cp:lastModifiedBy>Ruby Sethi</cp:lastModifiedBy>
  <cp:revision>1</cp:revision>
  <dcterms:created xsi:type="dcterms:W3CDTF">2026-10-05T06:04:51Z</dcterms:created>
  <dcterms:modified xsi:type="dcterms:W3CDTF">2026-10-15T16:32:05Z</dcterms:modified>
</cp:coreProperties>
</file>